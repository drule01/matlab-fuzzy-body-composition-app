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6DD6219-6652-90DC-76EC-EC1BBE357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2752ACBE-D80B-2034-7882-F2984A6EB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87F46AD-DB95-B664-6900-DFAFE1F21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3194-ADFF-460F-AD04-E4F0E095FB11}" type="datetimeFigureOut">
              <a:rPr lang="ro-RO" smtClean="0"/>
              <a:t>01.06.2026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FD961F-0B3C-1226-ABD7-A42D5826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E59DC5C-68A0-133C-E002-DC4C2696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D6E5-FD56-4D16-905E-CAA57FB5CFB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54113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C11C1B-74D5-C7E0-D088-54E0FAB1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64400BB-5931-C037-0DC9-AF1859F3A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F12732DD-6FCC-0413-7B1C-7EF300DA8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3194-ADFF-460F-AD04-E4F0E095FB11}" type="datetimeFigureOut">
              <a:rPr lang="ro-RO" smtClean="0"/>
              <a:t>01.06.2026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5B086289-8B8C-DB08-2CED-9C135CA53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29C7324-2B62-5BBB-D255-28450103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D6E5-FD56-4D16-905E-CAA57FB5CFB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85310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25973BA-E4D9-705F-35C2-135E2D231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4B07F5F2-1611-BFDE-04B7-764476260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D61F712C-961B-B1DA-58D2-E27359046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3194-ADFF-460F-AD04-E4F0E095FB11}" type="datetimeFigureOut">
              <a:rPr lang="ro-RO" smtClean="0"/>
              <a:t>01.06.2026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73E30B4-B480-35EB-4ECC-8A87E4FC2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65178CE8-44E2-5F16-D169-4BEDEADF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D6E5-FD56-4D16-905E-CAA57FB5CFB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2909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B70BCBA-7C0D-F87F-37C4-74260D424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AD1491A-FE55-C97B-B9EB-DBDD2266E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88FA8DE7-1224-04A0-767C-57419D008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44BF93D-5192-E718-4BB5-AEF6ECB49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3194-ADFF-460F-AD04-E4F0E095FB11}" type="datetimeFigureOut">
              <a:rPr lang="ro-RO" smtClean="0"/>
              <a:t>01.06.2026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B656D54F-6FBD-CB98-6710-341C52AD7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A27210D6-E74C-E7E9-E4C7-6CC81768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D6E5-FD56-4D16-905E-CAA57FB5CFB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193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09A41F2-4444-1B31-E08D-649F644F1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C3C6D603-CD3F-F179-627C-C5E2C8816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3011C2F5-C57E-5AB1-BCFF-11837FF1C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70FCAB93-0979-8EAE-18C1-1B74D625E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A88C227A-36DE-B1A9-68CB-C5392C83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70360097-0975-F20A-EF18-DC772EC6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3194-ADFF-460F-AD04-E4F0E095FB11}" type="datetimeFigureOut">
              <a:rPr lang="ro-RO" smtClean="0"/>
              <a:t>01.06.2026</a:t>
            </a:fld>
            <a:endParaRPr lang="ro-RO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582869F1-1954-A6DE-5128-518FC21CF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4BCAD20-5BC9-0F65-E11B-7CD96EBB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D6E5-FD56-4D16-905E-CAA57FB5CFB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02329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988FDE9-4002-42EE-A238-81EC48359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3AE4F58-47B9-43ED-DFDA-7133BB5FE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3194-ADFF-460F-AD04-E4F0E095FB11}" type="datetimeFigureOut">
              <a:rPr lang="ro-RO" smtClean="0"/>
              <a:t>01.06.2026</a:t>
            </a:fld>
            <a:endParaRPr lang="ro-RO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F2CF068B-2D6D-3367-395A-6205E1AB2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C9CCCE1E-1D55-C12C-51E0-99D5DF70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D6E5-FD56-4D16-905E-CAA57FB5CFB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19071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35E55A3A-D869-7F9C-23EA-20F044EDF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3194-ADFF-460F-AD04-E4F0E095FB11}" type="datetimeFigureOut">
              <a:rPr lang="ro-RO" smtClean="0"/>
              <a:t>01.06.2026</a:t>
            </a:fld>
            <a:endParaRPr lang="ro-RO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4F3D205A-3BAC-32B7-632C-3C266EAC2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220EEB08-8857-A05B-A66A-546F42B6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D6E5-FD56-4D16-905E-CAA57FB5CFB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64289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B2E6045-C89E-1C89-DAEB-6B71D34E5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82A3449-01B2-BB67-1471-B18BC55F6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CA1B564-1420-7B23-CB47-0674809A3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194CAB11-6E9C-9512-FA8E-B0E7BCCB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3194-ADFF-460F-AD04-E4F0E095FB11}" type="datetimeFigureOut">
              <a:rPr lang="ro-RO" smtClean="0"/>
              <a:t>01.06.2026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729A01C0-FAAF-BCAE-070B-A1032AA4A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AE8D7855-2481-8ECC-50A8-6C648E7F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D6E5-FD56-4D16-905E-CAA57FB5CFB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2164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63AEE5F-5C90-ABAC-DD18-261E9357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B75D90C-B18B-C9FA-7E83-DE27A91D6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ABC02318-F0B6-4533-0EDC-93E3C1B1A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5AC605A0-FBC8-2AC8-23C6-4647D53B7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3194-ADFF-460F-AD04-E4F0E095FB11}" type="datetimeFigureOut">
              <a:rPr lang="ro-RO" smtClean="0"/>
              <a:t>01.06.2026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F53AEB9F-C82D-4622-37F4-73E67D3E1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1A1ACC2D-FDD4-AED9-82A0-7CDC3EF5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D6E5-FD56-4D16-905E-CAA57FB5CFB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1306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AB9AD8E-4313-C309-7204-2846FAFB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4EE1633-43C8-2FF6-678C-1C45B7D13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186D741-4A02-11BD-9531-CE4BCA299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3194-ADFF-460F-AD04-E4F0E095FB11}" type="datetimeFigureOut">
              <a:rPr lang="ro-RO" smtClean="0"/>
              <a:t>01.06.2026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1075D63-DA3F-288C-C2DC-3C536BC8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E6DBBE99-0695-BA76-8646-95313406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D6E5-FD56-4D16-905E-CAA57FB5CFB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4146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5B2F80D8-C730-3217-6191-94748902B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81940744-2C1A-206D-69DD-925AF80F9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69C093FB-03DF-8CFE-5384-2A3EBFEA7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3194-ADFF-460F-AD04-E4F0E095FB11}" type="datetimeFigureOut">
              <a:rPr lang="ro-RO" smtClean="0"/>
              <a:t>01.06.2026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443A825E-DA8C-75B8-668B-B7F520FF0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3EA103C2-38DB-4AD6-6931-BCBF1763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D6E5-FD56-4D16-905E-CAA57FB5CFB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42179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BECD9820-618A-C967-81A1-96106F69E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AC7115C3-D2D4-054F-5C75-2CF313F99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DBE9A1F-94CB-1411-791A-711A3B4EEB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953194-ADFF-460F-AD04-E4F0E095FB11}" type="datetimeFigureOut">
              <a:rPr lang="ro-RO" smtClean="0"/>
              <a:t>01.06.2026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0EF3C40-7F09-B54B-A082-3C32A68B7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85C24211-3DA2-88C6-9749-4736391C2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CD6E5-FD56-4D16-905E-CAA57FB5CFB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19750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39B7767-05AE-86E8-3723-56763E494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0937"/>
            <a:ext cx="9144000" cy="2387600"/>
          </a:xfrm>
        </p:spPr>
        <p:txBody>
          <a:bodyPr>
            <a:normAutofit/>
          </a:bodyPr>
          <a:lstStyle/>
          <a:p>
            <a:r>
              <a:rPr lang="ro-RO" sz="5400" dirty="0"/>
              <a:t>Analiza Compoziției Corporale implementată cu Logica Fuzzy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0E45B6EF-E644-3F79-001B-4D6200493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030" y="5744265"/>
            <a:ext cx="8384875" cy="1228754"/>
          </a:xfrm>
        </p:spPr>
        <p:txBody>
          <a:bodyPr>
            <a:normAutofit/>
          </a:bodyPr>
          <a:lstStyle/>
          <a:p>
            <a:pPr algn="l"/>
            <a:r>
              <a:rPr lang="ro-RO" sz="2000" dirty="0"/>
              <a:t>Student: Daniela Ileana DRULE </a:t>
            </a:r>
          </a:p>
          <a:p>
            <a:pPr algn="l"/>
            <a:r>
              <a:rPr lang="ro-RO" sz="2000" dirty="0"/>
              <a:t>Profesor Coordonator: </a:t>
            </a:r>
            <a:r>
              <a:rPr lang="ro-RO" sz="2000" dirty="0" err="1"/>
              <a:t>As.drd.ing</a:t>
            </a:r>
            <a:r>
              <a:rPr lang="ro-RO" sz="2000" dirty="0"/>
              <a:t>. Florina Luminița ROSTAȘ</a:t>
            </a:r>
          </a:p>
        </p:txBody>
      </p:sp>
    </p:spTree>
    <p:extLst>
      <p:ext uri="{BB962C8B-B14F-4D97-AF65-F5344CB8AC3E}">
        <p14:creationId xmlns:p14="http://schemas.microsoft.com/office/powerpoint/2010/main" val="1020775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id="{F1A8535A-D848-C8F3-A54D-9F7A33170F2E}"/>
              </a:ext>
            </a:extLst>
          </p:cNvPr>
          <p:cNvSpPr txBox="1"/>
          <p:nvPr/>
        </p:nvSpPr>
        <p:spPr>
          <a:xfrm>
            <a:off x="411480" y="991443"/>
            <a:ext cx="4443154" cy="1087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</a:t>
            </a:r>
            <a:r>
              <a:rPr lang="ro-RO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Introducere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A1CD4D83-1571-F859-2B42-8D685F6A7642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SCOP: simulator interactiv pentru evaluarea stării de sănătate;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PRINCIPIU de FUNCȚIONARE: sistem bazat pe Logică Fuzzy;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PROGRAM UTILIZAT: dezvoltat integral în Matlab Online.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9901BB34-603B-E589-5F43-9F07ADBC5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90427"/>
            <a:ext cx="5339936" cy="528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81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9CFAD278-5159-10D9-01D1-D38894255C88}"/>
              </a:ext>
            </a:extLst>
          </p:cNvPr>
          <p:cNvSpPr txBox="1"/>
          <p:nvPr/>
        </p:nvSpPr>
        <p:spPr>
          <a:xfrm>
            <a:off x="417204" y="497706"/>
            <a:ext cx="5543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/>
              <a:t>2. Implementarea Logicii Fuzzy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901BA23C-32EA-6AC4-3243-3E8B62CB5BFC}"/>
              </a:ext>
            </a:extLst>
          </p:cNvPr>
          <p:cNvSpPr txBox="1"/>
          <p:nvPr/>
        </p:nvSpPr>
        <p:spPr>
          <a:xfrm>
            <a:off x="339304" y="1385386"/>
            <a:ext cx="5543911" cy="190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o-RO" sz="1600" dirty="0"/>
              <a:t>-intrarea 1: </a:t>
            </a:r>
            <a:r>
              <a:rPr lang="ro-RO" sz="1600" dirty="0" err="1"/>
              <a:t>Tesut_adipos</a:t>
            </a:r>
            <a:r>
              <a:rPr lang="ro-RO" sz="1600" dirty="0"/>
              <a:t> [5 45];</a:t>
            </a:r>
          </a:p>
          <a:p>
            <a:pPr>
              <a:lnSpc>
                <a:spcPct val="150000"/>
              </a:lnSpc>
            </a:pPr>
            <a:r>
              <a:rPr lang="ro-RO" sz="1600" dirty="0"/>
              <a:t>-intrarea 2: </a:t>
            </a:r>
            <a:r>
              <a:rPr lang="ro-RO" sz="1600" dirty="0" err="1"/>
              <a:t>Tesut_muscular</a:t>
            </a:r>
            <a:r>
              <a:rPr lang="ro-RO" sz="1600" dirty="0"/>
              <a:t> [20 60];</a:t>
            </a:r>
          </a:p>
          <a:p>
            <a:pPr>
              <a:lnSpc>
                <a:spcPct val="150000"/>
              </a:lnSpc>
            </a:pPr>
            <a:r>
              <a:rPr lang="ro-RO" sz="1600" dirty="0"/>
              <a:t>-output: </a:t>
            </a:r>
            <a:r>
              <a:rPr lang="ro-RO" sz="1600" dirty="0" err="1"/>
              <a:t>Indice_Compozitie_Corporala</a:t>
            </a:r>
            <a:r>
              <a:rPr lang="ro-RO" sz="1600" dirty="0"/>
              <a:t> [0 100];</a:t>
            </a:r>
          </a:p>
          <a:p>
            <a:pPr>
              <a:lnSpc>
                <a:spcPct val="150000"/>
              </a:lnSpc>
            </a:pPr>
            <a:r>
              <a:rPr lang="ro-RO" sz="1600" dirty="0"/>
              <a:t>-9 reguli;</a:t>
            </a:r>
          </a:p>
          <a:p>
            <a:pPr>
              <a:lnSpc>
                <a:spcPct val="150000"/>
              </a:lnSpc>
            </a:pPr>
            <a:r>
              <a:rPr lang="ro-RO" sz="1600" dirty="0"/>
              <a:t>-</a:t>
            </a:r>
            <a:r>
              <a:rPr lang="ro-RO" sz="1600" dirty="0" err="1"/>
              <a:t>Mamdani</a:t>
            </a:r>
            <a:r>
              <a:rPr lang="ro-RO" sz="1600" dirty="0"/>
              <a:t> </a:t>
            </a:r>
            <a:r>
              <a:rPr lang="ro-RO" sz="1600" dirty="0" err="1"/>
              <a:t>Type</a:t>
            </a:r>
            <a:r>
              <a:rPr lang="ro-RO" sz="1600" dirty="0"/>
              <a:t> 1.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E4BD6445-5A5C-2557-BE8F-49F618076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780118"/>
              </p:ext>
            </p:extLst>
          </p:nvPr>
        </p:nvGraphicFramePr>
        <p:xfrm>
          <a:off x="4629508" y="1612520"/>
          <a:ext cx="7562492" cy="1676400"/>
        </p:xfrm>
        <a:graphic>
          <a:graphicData uri="http://schemas.openxmlformats.org/drawingml/2006/table">
            <a:tbl>
              <a:tblPr/>
              <a:tblGrid>
                <a:gridCol w="1890623">
                  <a:extLst>
                    <a:ext uri="{9D8B030D-6E8A-4147-A177-3AD203B41FA5}">
                      <a16:colId xmlns:a16="http://schemas.microsoft.com/office/drawing/2014/main" val="2417878586"/>
                    </a:ext>
                  </a:extLst>
                </a:gridCol>
                <a:gridCol w="1890623">
                  <a:extLst>
                    <a:ext uri="{9D8B030D-6E8A-4147-A177-3AD203B41FA5}">
                      <a16:colId xmlns:a16="http://schemas.microsoft.com/office/drawing/2014/main" val="3407351954"/>
                    </a:ext>
                  </a:extLst>
                </a:gridCol>
                <a:gridCol w="1890623">
                  <a:extLst>
                    <a:ext uri="{9D8B030D-6E8A-4147-A177-3AD203B41FA5}">
                      <a16:colId xmlns:a16="http://schemas.microsoft.com/office/drawing/2014/main" val="151265358"/>
                    </a:ext>
                  </a:extLst>
                </a:gridCol>
                <a:gridCol w="1890623">
                  <a:extLst>
                    <a:ext uri="{9D8B030D-6E8A-4147-A177-3AD203B41FA5}">
                      <a16:colId xmlns:a16="http://schemas.microsoft.com/office/drawing/2014/main" val="1011774114"/>
                    </a:ext>
                  </a:extLst>
                </a:gridCol>
              </a:tblGrid>
              <a:tr h="578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b="1" dirty="0">
                          <a:effectLst/>
                          <a:latin typeface="Google Sans Text"/>
                        </a:rPr>
                        <a:t>Țesut Adipos \ Masă Musculară</a:t>
                      </a:r>
                      <a:endParaRPr lang="ro-RO" dirty="0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b="1">
                          <a:effectLst/>
                          <a:latin typeface="Google Sans Text"/>
                        </a:rPr>
                        <a:t>Scăzut</a:t>
                      </a:r>
                      <a:endParaRPr lang="ro-RO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b="1">
                          <a:effectLst/>
                          <a:latin typeface="Google Sans Text"/>
                        </a:rPr>
                        <a:t>Normal</a:t>
                      </a:r>
                      <a:endParaRPr lang="ro-RO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b="1">
                          <a:effectLst/>
                          <a:latin typeface="Google Sans Text"/>
                        </a:rPr>
                        <a:t>Crescut</a:t>
                      </a:r>
                      <a:endParaRPr lang="ro-RO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063465"/>
                  </a:ext>
                </a:extLst>
              </a:tr>
              <a:tr h="324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b="1">
                          <a:effectLst/>
                          <a:latin typeface="Google Sans Text"/>
                        </a:rPr>
                        <a:t>Scăzut</a:t>
                      </a:r>
                      <a:endParaRPr lang="ro-RO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>
                          <a:effectLst/>
                          <a:latin typeface="Google Sans Text"/>
                        </a:rPr>
                        <a:t>Slab / Sedentar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>
                          <a:effectLst/>
                          <a:latin typeface="Google Sans Text"/>
                        </a:rPr>
                        <a:t>Bun / Sănătos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>
                          <a:effectLst/>
                          <a:latin typeface="Google Sans Text"/>
                        </a:rPr>
                        <a:t>Optim / Atlet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879813"/>
                  </a:ext>
                </a:extLst>
              </a:tr>
              <a:tr h="324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b="1">
                          <a:effectLst/>
                          <a:latin typeface="Google Sans Text"/>
                        </a:rPr>
                        <a:t>Optim</a:t>
                      </a:r>
                      <a:endParaRPr lang="ro-RO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dirty="0">
                          <a:effectLst/>
                          <a:latin typeface="Google Sans Text"/>
                        </a:rPr>
                        <a:t>Slab / Sedentar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>
                          <a:effectLst/>
                          <a:latin typeface="Google Sans Text"/>
                        </a:rPr>
                        <a:t>Bun / Sănătos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>
                          <a:effectLst/>
                          <a:latin typeface="Google Sans Text"/>
                        </a:rPr>
                        <a:t>Optim / Atlet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41465"/>
                  </a:ext>
                </a:extLst>
              </a:tr>
              <a:tr h="324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b="1">
                          <a:effectLst/>
                          <a:latin typeface="Google Sans Text"/>
                        </a:rPr>
                        <a:t>Ridicat</a:t>
                      </a:r>
                      <a:endParaRPr lang="ro-RO"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>
                          <a:effectLst/>
                          <a:latin typeface="Google Sans Text"/>
                        </a:rPr>
                        <a:t>Critic / Urgență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>
                          <a:effectLst/>
                          <a:latin typeface="Google Sans Text"/>
                        </a:rPr>
                        <a:t>Slab / Sedentar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dirty="0">
                          <a:effectLst/>
                          <a:latin typeface="Google Sans Text"/>
                        </a:rPr>
                        <a:t>Bun / Sănătos</a:t>
                      </a:r>
                    </a:p>
                  </a:txBody>
                  <a:tcPr marL="57150" marR="57150" marT="38100" marB="38100" anchor="ctr">
                    <a:lnL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393701"/>
                  </a:ext>
                </a:extLst>
              </a:tr>
            </a:tbl>
          </a:graphicData>
        </a:graphic>
      </p:graphicFrame>
      <p:pic>
        <p:nvPicPr>
          <p:cNvPr id="6" name="Imagine 5">
            <a:extLst>
              <a:ext uri="{FF2B5EF4-FFF2-40B4-BE49-F238E27FC236}">
                <a16:creationId xmlns:a16="http://schemas.microsoft.com/office/drawing/2014/main" id="{5C1B0285-F7EC-FD74-319D-176D8D48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04" y="3930378"/>
            <a:ext cx="3840153" cy="2433041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794C1E45-739A-9B06-E606-3A1230460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392" y="3928254"/>
            <a:ext cx="3840153" cy="2435165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B0D5A9EC-719C-0E3A-71E2-260158664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545" y="3930378"/>
            <a:ext cx="3917196" cy="243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218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E9671126-ECDA-10E6-33F1-B5F157A04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46" y="1171911"/>
            <a:ext cx="9054211" cy="4514178"/>
          </a:xfrm>
          <a:prstGeom prst="rect">
            <a:avLst/>
          </a:prstGeom>
        </p:spPr>
      </p:pic>
      <p:sp>
        <p:nvSpPr>
          <p:cNvPr id="6" name="CasetăText 5">
            <a:extLst>
              <a:ext uri="{FF2B5EF4-FFF2-40B4-BE49-F238E27FC236}">
                <a16:creationId xmlns:a16="http://schemas.microsoft.com/office/drawing/2014/main" id="{98B46D36-3B3E-DF58-E198-866CFF1E9AD2}"/>
              </a:ext>
            </a:extLst>
          </p:cNvPr>
          <p:cNvSpPr txBox="1"/>
          <p:nvPr/>
        </p:nvSpPr>
        <p:spPr>
          <a:xfrm>
            <a:off x="5294005" y="5686089"/>
            <a:ext cx="4353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/>
              <a:t>Fig: Control Surface</a:t>
            </a:r>
            <a:endParaRPr lang="ro-RO" sz="1400" dirty="0"/>
          </a:p>
        </p:txBody>
      </p:sp>
    </p:spTree>
    <p:extLst>
      <p:ext uri="{BB962C8B-B14F-4D97-AF65-F5344CB8AC3E}">
        <p14:creationId xmlns:p14="http://schemas.microsoft.com/office/powerpoint/2010/main" val="96456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5177AFA0-765D-696B-154D-FF832A9A5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42" y="1784543"/>
            <a:ext cx="6249056" cy="4103639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C9FA9E0A-7C07-076D-7537-E3B54CF652C7}"/>
              </a:ext>
            </a:extLst>
          </p:cNvPr>
          <p:cNvSpPr txBox="1"/>
          <p:nvPr/>
        </p:nvSpPr>
        <p:spPr>
          <a:xfrm>
            <a:off x="208793" y="262815"/>
            <a:ext cx="6206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/>
              <a:t>3. Implementarea practică</a:t>
            </a:r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C5833428-C15F-23A3-2E5E-23CB5353DF3F}"/>
              </a:ext>
            </a:extLst>
          </p:cNvPr>
          <p:cNvSpPr txBox="1"/>
          <p:nvPr/>
        </p:nvSpPr>
        <p:spPr>
          <a:xfrm>
            <a:off x="88023" y="969818"/>
            <a:ext cx="8428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-aplicație implementată cu </a:t>
            </a:r>
            <a:r>
              <a:rPr lang="ro-RO" dirty="0" err="1"/>
              <a:t>App</a:t>
            </a:r>
            <a:r>
              <a:rPr lang="ro-RO" dirty="0"/>
              <a:t> Designer și simulare în </a:t>
            </a:r>
            <a:r>
              <a:rPr lang="ro-RO" dirty="0" err="1"/>
              <a:t>Tinkercad</a:t>
            </a:r>
            <a:r>
              <a:rPr lang="ro-RO" dirty="0"/>
              <a:t>.</a:t>
            </a:r>
          </a:p>
        </p:txBody>
      </p:sp>
      <p:pic>
        <p:nvPicPr>
          <p:cNvPr id="10" name="Imagine 9">
            <a:extLst>
              <a:ext uri="{FF2B5EF4-FFF2-40B4-BE49-F238E27FC236}">
                <a16:creationId xmlns:a16="http://schemas.microsoft.com/office/drawing/2014/main" id="{45724B98-CD81-AFB5-5FB2-48856C38F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505" y="497716"/>
            <a:ext cx="4780054" cy="3566192"/>
          </a:xfrm>
          <a:prstGeom prst="rect">
            <a:avLst/>
          </a:prstGeom>
        </p:spPr>
      </p:pic>
      <p:pic>
        <p:nvPicPr>
          <p:cNvPr id="12" name="Imagine 11">
            <a:extLst>
              <a:ext uri="{FF2B5EF4-FFF2-40B4-BE49-F238E27FC236}">
                <a16:creationId xmlns:a16="http://schemas.microsoft.com/office/drawing/2014/main" id="{EF06F669-7664-622C-2587-1A16FE574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843" y="4179456"/>
            <a:ext cx="5623377" cy="252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592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80165AD2-53ED-C35D-5153-7FED25D48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2" y="152657"/>
            <a:ext cx="6350711" cy="3864114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F2B33B4E-C043-A5C1-478C-75DBD48C1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090" y="104558"/>
            <a:ext cx="5369788" cy="4016771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BC968AED-9044-DFBF-327E-A265A0477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015" y="4069050"/>
            <a:ext cx="5984059" cy="27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70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10C96B36-8D18-9527-2A82-8DB0DACF1197}"/>
              </a:ext>
            </a:extLst>
          </p:cNvPr>
          <p:cNvSpPr txBox="1"/>
          <p:nvPr/>
        </p:nvSpPr>
        <p:spPr>
          <a:xfrm>
            <a:off x="460075" y="442822"/>
            <a:ext cx="5428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/>
              <a:t>4. Concluzii</a:t>
            </a:r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F1A3B7A0-9B4D-0DBE-27A5-F502C940E357}"/>
              </a:ext>
            </a:extLst>
          </p:cNvPr>
          <p:cNvSpPr txBox="1"/>
          <p:nvPr/>
        </p:nvSpPr>
        <p:spPr>
          <a:xfrm>
            <a:off x="460075" y="1667774"/>
            <a:ext cx="11668664" cy="22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o-RO" b="1" dirty="0"/>
              <a:t>Utilitate practică:</a:t>
            </a:r>
            <a:r>
              <a:rPr lang="ro-RO" dirty="0"/>
              <a:t> Instrument rapid de evaluare pentru sportivi, nutriționiști și uz casnic;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o-RO" b="1" dirty="0"/>
              <a:t>Diagnostic inteligent:</a:t>
            </a:r>
            <a:r>
              <a:rPr lang="ro-RO" dirty="0"/>
              <a:t> Interpretare avansată a datelor prin algoritmi de Logică Fuzzy;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o-RO" b="1" dirty="0"/>
              <a:t>Implementare hardware viitoare:</a:t>
            </a:r>
            <a:r>
              <a:rPr lang="ro-RO" dirty="0"/>
              <a:t> Posibilitatea integrării fizice a senzorului medical </a:t>
            </a:r>
            <a:r>
              <a:rPr lang="ro-RO" b="1" dirty="0"/>
              <a:t>AD5933</a:t>
            </a:r>
            <a:r>
              <a:rPr lang="ro-RO" dirty="0"/>
              <a:t>;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o-RO" b="1" dirty="0"/>
              <a:t>Potențial </a:t>
            </a:r>
            <a:r>
              <a:rPr lang="ro-RO" b="1" dirty="0" err="1"/>
              <a:t>IoT</a:t>
            </a:r>
            <a:r>
              <a:rPr lang="ro-RO" b="1" dirty="0"/>
              <a:t>:</a:t>
            </a:r>
            <a:r>
              <a:rPr lang="ro-RO" dirty="0"/>
              <a:t> Bază solidă pentru un viitor dispozitiv portabil (monitorizare direct pe </a:t>
            </a:r>
            <a:r>
              <a:rPr lang="ro-RO" dirty="0" err="1"/>
              <a:t>smartphone</a:t>
            </a:r>
            <a:r>
              <a:rPr lang="ro-RO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82738481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1392</TotalTime>
  <Words>220</Words>
  <Application>Microsoft Office PowerPoint</Application>
  <PresentationFormat>Ecran lat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Google Sans Text</vt:lpstr>
      <vt:lpstr>Temă Office</vt:lpstr>
      <vt:lpstr>Analiza Compoziției Corporale implementată cu Logica Fuzzy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Ileana Drule</dc:creator>
  <cp:lastModifiedBy>Daniela Ileana Drule</cp:lastModifiedBy>
  <cp:revision>5</cp:revision>
  <dcterms:created xsi:type="dcterms:W3CDTF">2026-06-01T17:49:03Z</dcterms:created>
  <dcterms:modified xsi:type="dcterms:W3CDTF">2026-06-02T17:38:08Z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2026-06-01T18:25:13Z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f188b91f-bd8a-4d28-a254-09fbf54ecd14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